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9" r:id="rId4"/>
  </p:sldMasterIdLst>
  <p:notesMasterIdLst>
    <p:notesMasterId r:id="rId14"/>
  </p:notesMasterIdLst>
  <p:handoutMasterIdLst>
    <p:handoutMasterId r:id="rId15"/>
  </p:handoutMasterIdLst>
  <p:sldIdLst>
    <p:sldId id="318" r:id="rId5"/>
    <p:sldId id="316" r:id="rId6"/>
    <p:sldId id="317" r:id="rId7"/>
    <p:sldId id="319" r:id="rId8"/>
    <p:sldId id="320" r:id="rId9"/>
    <p:sldId id="324" r:id="rId10"/>
    <p:sldId id="321" r:id="rId11"/>
    <p:sldId id="322" r:id="rId12"/>
    <p:sldId id="3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7296" userDrawn="1">
          <p15:clr>
            <a:srgbClr val="A4A3A4"/>
          </p15:clr>
        </p15:guide>
        <p15:guide id="5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7" autoAdjust="0"/>
    <p:restoredTop sz="95508" autoAdjust="0"/>
  </p:normalViewPr>
  <p:slideViewPr>
    <p:cSldViewPr snapToGrid="0">
      <p:cViewPr varScale="1">
        <p:scale>
          <a:sx n="112" d="100"/>
          <a:sy n="112" d="100"/>
        </p:scale>
        <p:origin x="1016" y="192"/>
      </p:cViewPr>
      <p:guideLst>
        <p:guide orient="horz" pos="1128"/>
        <p:guide pos="3840"/>
        <p:guide pos="384"/>
        <p:guide pos="7296"/>
        <p:guide orient="horz" pos="40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52186-C111-43A8-A0F7-F77FFDE4DF82}" type="datetimeFigureOut">
              <a:rPr lang="en-US" smtClean="0"/>
              <a:t>4/3/26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6CFAD-C154-4C9C-AD01-665A505506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BBB5B-F3DE-41D7-B279-483D20E8E363}" type="datetimeFigureOut">
              <a:rPr lang="en-US" smtClean="0"/>
              <a:t>4/3/26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2BC0-7DC4-4569-951D-2BB9475345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2BC0-7DC4-4569-951D-2BB9475345C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717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F4EC-7080-3AA8-512A-94CDEF9B8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9953F-0087-C07F-802D-200F7ECFF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929-D19B-9A33-0186-E72F46E6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65232-32BB-5908-A2B1-48659F67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1C8F1-D071-92AA-2113-194784C5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3512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8368-2396-DF5C-6A27-1FD67583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724AA-1C8A-90FE-3766-FCEA1895C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F1912-842C-62B5-E6F6-984B95DCB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D8DE7-4018-D6AB-D8B9-DE9ACE6A0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00382-483C-2676-266D-92B3F971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74445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1B08-468E-0665-8F61-809B7F17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0BA9C-80BD-15E3-B70B-6ACEDE219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A96B-7A33-E647-BF35-C7B9F363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40FC0-AEC0-3876-4F95-B628812F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F68CE-D99E-17FC-FF09-10E79A30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56863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A434-0923-2877-0F68-4ABFF25A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EA254-F1DA-0CA8-216F-64B4C8311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425D2-C724-CCB8-7D43-564D3FF78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98721-C772-5C9E-C1A7-0F447160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1CBE2-629B-6A4E-D76D-8E559479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9E663-213C-65EB-ECF5-6AE2C839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66118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77C1-3924-6C11-D2CD-689371AA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8073F-62AE-D990-C288-D029834D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9383C-27A8-260D-E0F9-1BC539278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9E8A8-EF38-1BE2-EC35-8D955AE4B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A0333-2D19-7157-E6C3-78015E613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7D6C8-AC1F-4C75-D0AC-EB95A1851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F7F515-DACB-3910-0BE5-A179C231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9628D-9865-355F-19AB-743927DE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73133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9B5D-09B5-7D80-C3EC-4ED83DCA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95657A-FF1A-5D7B-528F-D6D11F543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5470E-1045-881A-6048-E0A2AF7C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60746-B3CF-ED7C-F7B0-F8BD4067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05490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A6305-F68E-0813-31FE-E7881766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331DC-8136-6FF1-0FD0-05CC0F41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9D1FC-1E69-A336-DE35-1AF619C9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549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1153-09D2-95B2-B1D3-A3ECEEDB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D8526-BAAD-847D-83F5-472AF6CEC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B5A9D-B28E-BCEB-B1CE-E7808C45E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3B12D-9D38-8A97-CC2F-95901FB78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C777E-D352-E12B-EAB2-515B3EBC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DE459-1D70-0063-FD95-AFB2DCC4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5291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15C2-68A2-B306-922E-6401EB9C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AA907-311F-99D0-5041-F4B57DA2B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90289-31AF-D6AF-5C7A-4BE12DFD9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092E0-ED9C-ABC5-10AD-5E2129C29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F82F5-8439-8C26-6A11-9D975795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56883-DAA9-77DE-152D-E7113F37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08980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8F5A-1990-3E85-ADBF-C1773295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204D7-2EA9-B68B-B2C2-C4BC7FCB6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389D-6982-8598-4669-B73B9D21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E47C8-CEE8-94A9-8874-967FDDE9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C3DA9-46AD-E08A-0337-35D69A47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8669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B6DCF-F664-6322-8044-606C5EF96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8BCD0-6768-AF79-9759-9E8238F2B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C84A-710B-E859-8FEF-BE835957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7D611-1466-879A-679D-EC1B802B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67514-09FB-F618-79C1-A0A0F142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8638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7E8106-BFCB-6E81-ED43-2822D32EB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06BCD-0D87-E7BE-E4E3-BD71E431B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94687-84A9-5E4F-7B39-628096AF5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45875-AD77-28DA-61B5-D8F75ED75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10C17-2877-F949-ACA5-9DD303052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95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8823-5FFB-54F8-8371-3F7254012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Fraud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49A1B-77A4-FF7B-6515-A865A8638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9417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Soraya Shirini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25 November 2025 </a:t>
            </a:r>
          </a:p>
        </p:txBody>
      </p:sp>
    </p:spTree>
    <p:extLst>
      <p:ext uri="{BB962C8B-B14F-4D97-AF65-F5344CB8AC3E}">
        <p14:creationId xmlns:p14="http://schemas.microsoft.com/office/powerpoint/2010/main" val="3131877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F714A81-F3F9-4086-63BE-1E75ABE6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B742B-B81C-023B-5262-3EE30AA9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2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B65F623-BB07-43A9-38B6-D4B238239E54}"/>
              </a:ext>
            </a:extLst>
          </p:cNvPr>
          <p:cNvSpPr txBox="1">
            <a:spLocks/>
          </p:cNvSpPr>
          <p:nvPr/>
        </p:nvSpPr>
        <p:spPr>
          <a:xfrm>
            <a:off x="838200" y="1635209"/>
            <a:ext cx="10515600" cy="289630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+mn-lt"/>
                <a:cs typeface="Arial" panose="020B0604020202020204" pitchFamily="34" charset="0"/>
              </a:rPr>
              <a:t>Data Understanding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+mn-lt"/>
                <a:cs typeface="Arial" panose="020B0604020202020204" pitchFamily="34" charset="0"/>
              </a:rPr>
              <a:t>Data Cleaning and Preparation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+mn-lt"/>
                <a:cs typeface="Arial" panose="020B0604020202020204" pitchFamily="34" charset="0"/>
              </a:rPr>
              <a:t>Exploratory Data Analysis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+mn-lt"/>
                <a:cs typeface="Arial" panose="020B0604020202020204" pitchFamily="34" charset="0"/>
              </a:rPr>
              <a:t>Fraud Analysis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+mn-lt"/>
                <a:cs typeface="Arial" panose="020B0604020202020204" pitchFamily="34" charset="0"/>
              </a:rPr>
              <a:t>Discussion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88976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8577-F72A-FBFE-43F5-4366AB50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3E5262F-C0FA-C50D-2EE8-9DF5AD125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6"/>
            <a:ext cx="10972799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1. Data Understanding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26DE0-A3AE-E689-C5B8-7101CA35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3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70A4B1-E8D2-9F44-E5FF-3D83BE09A75B}"/>
              </a:ext>
            </a:extLst>
          </p:cNvPr>
          <p:cNvSpPr txBox="1">
            <a:spLocks/>
          </p:cNvSpPr>
          <p:nvPr/>
        </p:nvSpPr>
        <p:spPr>
          <a:xfrm>
            <a:off x="609600" y="1112216"/>
            <a:ext cx="1097280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+mn-lt"/>
                <a:cs typeface="Arial" panose="020B0604020202020204" pitchFamily="34" charset="0"/>
              </a:rPr>
              <a:t>The dataset is clean and balanced, but key variables show wide ranges and skewness, indicating the need for outlier checks before modelling.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5FC34F-8572-C975-718C-9A9E8557FEAE}"/>
              </a:ext>
            </a:extLst>
          </p:cNvPr>
          <p:cNvSpPr/>
          <p:nvPr/>
        </p:nvSpPr>
        <p:spPr>
          <a:xfrm>
            <a:off x="609601" y="3542285"/>
            <a:ext cx="871330" cy="9725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B33693-C778-EA55-3C91-7586A74A78DD}"/>
              </a:ext>
            </a:extLst>
          </p:cNvPr>
          <p:cNvSpPr/>
          <p:nvPr/>
        </p:nvSpPr>
        <p:spPr>
          <a:xfrm>
            <a:off x="609601" y="4559295"/>
            <a:ext cx="871330" cy="1168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float64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6122D2-375C-92DA-886C-2A53AE5FDC56}"/>
              </a:ext>
            </a:extLst>
          </p:cNvPr>
          <p:cNvSpPr/>
          <p:nvPr/>
        </p:nvSpPr>
        <p:spPr>
          <a:xfrm>
            <a:off x="609601" y="5761856"/>
            <a:ext cx="871330" cy="6826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int64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2B40A6-8D42-5CA2-CB26-8DFFC5A4DFE4}"/>
              </a:ext>
            </a:extLst>
          </p:cNvPr>
          <p:cNvSpPr txBox="1"/>
          <p:nvPr/>
        </p:nvSpPr>
        <p:spPr>
          <a:xfrm>
            <a:off x="1530625" y="3542284"/>
            <a:ext cx="4452729" cy="9725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numCol="2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transaction_id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customer_id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marital_status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transaction_type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device_type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7AEDC-8642-ED27-61EF-F6F21C4CB0B9}"/>
              </a:ext>
            </a:extLst>
          </p:cNvPr>
          <p:cNvSpPr txBox="1"/>
          <p:nvPr/>
        </p:nvSpPr>
        <p:spPr>
          <a:xfrm>
            <a:off x="1530627" y="4559295"/>
            <a:ext cx="4452730" cy="116801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numCol="2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personal_income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family_income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loan_amount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transaction_amount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avg_transaction_value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internet_usage_hrs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mobile_usage_hrs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fraud_amount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4C27C7-6753-6F62-68A6-ED351C0B0221}"/>
              </a:ext>
            </a:extLst>
          </p:cNvPr>
          <p:cNvSpPr txBox="1"/>
          <p:nvPr/>
        </p:nvSpPr>
        <p:spPr>
          <a:xfrm>
            <a:off x="1530627" y="5761856"/>
            <a:ext cx="4452730" cy="68265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numCol="2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credit_score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has_loan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owns_home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account_age_days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num_prev_transactions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is_fraud</a:t>
            </a:r>
            <a:endParaRPr lang="en-US"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0D329E-7F3E-796C-36A5-19BCA3174A16}"/>
              </a:ext>
            </a:extLst>
          </p:cNvPr>
          <p:cNvGrpSpPr/>
          <p:nvPr/>
        </p:nvGrpSpPr>
        <p:grpSpPr>
          <a:xfrm>
            <a:off x="609599" y="3190868"/>
            <a:ext cx="871332" cy="338554"/>
            <a:chOff x="609599" y="3041783"/>
            <a:chExt cx="871332" cy="3385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823402-55EE-6678-1C77-E34BC2F87859}"/>
                </a:ext>
              </a:extLst>
            </p:cNvPr>
            <p:cNvSpPr txBox="1"/>
            <p:nvPr/>
          </p:nvSpPr>
          <p:spPr>
            <a:xfrm>
              <a:off x="609600" y="3041783"/>
              <a:ext cx="871330" cy="33855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sz="1600" dirty="0"/>
                <a:t>Data type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739FF3A-5546-8D05-C854-DC816A955E3A}"/>
                </a:ext>
              </a:extLst>
            </p:cNvPr>
            <p:cNvCxnSpPr/>
            <p:nvPr/>
          </p:nvCxnSpPr>
          <p:spPr>
            <a:xfrm>
              <a:off x="609599" y="3340581"/>
              <a:ext cx="87133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33FE78-69C4-D540-5D3B-3222EA5FB16F}"/>
              </a:ext>
            </a:extLst>
          </p:cNvPr>
          <p:cNvGrpSpPr/>
          <p:nvPr/>
        </p:nvGrpSpPr>
        <p:grpSpPr>
          <a:xfrm>
            <a:off x="1530625" y="3190868"/>
            <a:ext cx="4452728" cy="338554"/>
            <a:chOff x="1873289" y="3041783"/>
            <a:chExt cx="3767408" cy="33855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973C37-515E-1F86-805D-1E3602DC9363}"/>
                </a:ext>
              </a:extLst>
            </p:cNvPr>
            <p:cNvSpPr txBox="1"/>
            <p:nvPr/>
          </p:nvSpPr>
          <p:spPr>
            <a:xfrm>
              <a:off x="1873289" y="3041783"/>
              <a:ext cx="37674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Column Name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4750928-41CC-7F5F-A61E-BC8FD9A17CDF}"/>
                </a:ext>
              </a:extLst>
            </p:cNvPr>
            <p:cNvCxnSpPr>
              <a:cxnSpLocks/>
            </p:cNvCxnSpPr>
            <p:nvPr/>
          </p:nvCxnSpPr>
          <p:spPr>
            <a:xfrm>
              <a:off x="1873289" y="3340581"/>
              <a:ext cx="376740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EE554D-4A4F-A07C-7D32-477A69D2058C}"/>
              </a:ext>
            </a:extLst>
          </p:cNvPr>
          <p:cNvCxnSpPr>
            <a:cxnSpLocks/>
          </p:cNvCxnSpPr>
          <p:nvPr/>
        </p:nvCxnSpPr>
        <p:spPr>
          <a:xfrm flipH="1">
            <a:off x="1769163" y="2860084"/>
            <a:ext cx="195800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121D836-BFB7-9D8D-7B77-5D236FDF223D}"/>
              </a:ext>
            </a:extLst>
          </p:cNvPr>
          <p:cNvSpPr txBox="1"/>
          <p:nvPr/>
        </p:nvSpPr>
        <p:spPr>
          <a:xfrm>
            <a:off x="2084281" y="2831147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23 columns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7F7C1317-953C-86EE-2A70-A345B9A0D35C}"/>
              </a:ext>
            </a:extLst>
          </p:cNvPr>
          <p:cNvSpPr/>
          <p:nvPr/>
        </p:nvSpPr>
        <p:spPr>
          <a:xfrm rot="5400000">
            <a:off x="3209210" y="500753"/>
            <a:ext cx="193760" cy="5354513"/>
          </a:xfrm>
          <a:prstGeom prst="leftBrace">
            <a:avLst>
              <a:gd name="adj1" fmla="val 8333"/>
              <a:gd name="adj2" fmla="val 59652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C68CB8-E761-10F3-853D-ECC58F10E6C2}"/>
              </a:ext>
            </a:extLst>
          </p:cNvPr>
          <p:cNvGrpSpPr/>
          <p:nvPr/>
        </p:nvGrpSpPr>
        <p:grpSpPr>
          <a:xfrm>
            <a:off x="666334" y="2117727"/>
            <a:ext cx="5197748" cy="617837"/>
            <a:chOff x="666334" y="1783561"/>
            <a:chExt cx="5197748" cy="89237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B522AF7-D765-F1A4-AB89-6DE656DFCEC0}"/>
                </a:ext>
              </a:extLst>
            </p:cNvPr>
            <p:cNvSpPr/>
            <p:nvPr/>
          </p:nvSpPr>
          <p:spPr>
            <a:xfrm>
              <a:off x="1769163" y="1783562"/>
              <a:ext cx="1958009" cy="89236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fraud_victim_dataset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92E4E67-A5C6-00EE-2E38-44729511EB5A}"/>
                </a:ext>
              </a:extLst>
            </p:cNvPr>
            <p:cNvCxnSpPr/>
            <p:nvPr/>
          </p:nvCxnSpPr>
          <p:spPr>
            <a:xfrm>
              <a:off x="1643268" y="1783561"/>
              <a:ext cx="0" cy="892369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B377589-A6A0-B1AD-0F1F-08E754D205CF}"/>
                </a:ext>
              </a:extLst>
            </p:cNvPr>
            <p:cNvSpPr txBox="1"/>
            <p:nvPr/>
          </p:nvSpPr>
          <p:spPr>
            <a:xfrm>
              <a:off x="666334" y="2038614"/>
              <a:ext cx="9769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500 rows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4D62EDB-AC3F-3FFD-B19C-CCC625E2E85C}"/>
                </a:ext>
              </a:extLst>
            </p:cNvPr>
            <p:cNvSpPr txBox="1"/>
            <p:nvPr/>
          </p:nvSpPr>
          <p:spPr>
            <a:xfrm>
              <a:off x="4028184" y="1825155"/>
              <a:ext cx="1835898" cy="6768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numCol="1" rtlCol="0" anchor="t">
              <a:noAutofit/>
            </a:bodyPr>
            <a:lstStyle/>
            <a:p>
              <a:r>
                <a:rPr lang="en-US" sz="1600" u="sng" dirty="0"/>
                <a:t>Data Quality Check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600" dirty="0"/>
                <a:t>No missing data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600" dirty="0"/>
                <a:t>No duplicates</a:t>
              </a:r>
            </a:p>
          </p:txBody>
        </p:sp>
      </p:grp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5B6A8998-FB2E-C69E-61E5-CEF4E4181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943859"/>
              </p:ext>
            </p:extLst>
          </p:nvPr>
        </p:nvGraphicFramePr>
        <p:xfrm>
          <a:off x="6109240" y="2117727"/>
          <a:ext cx="5473160" cy="247650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509837">
                  <a:extLst>
                    <a:ext uri="{9D8B030D-6E8A-4147-A177-3AD203B41FA5}">
                      <a16:colId xmlns:a16="http://schemas.microsoft.com/office/drawing/2014/main" val="3730082838"/>
                    </a:ext>
                  </a:extLst>
                </a:gridCol>
                <a:gridCol w="566189">
                  <a:extLst>
                    <a:ext uri="{9D8B030D-6E8A-4147-A177-3AD203B41FA5}">
                      <a16:colId xmlns:a16="http://schemas.microsoft.com/office/drawing/2014/main" val="2210298929"/>
                    </a:ext>
                  </a:extLst>
                </a:gridCol>
                <a:gridCol w="566189">
                  <a:extLst>
                    <a:ext uri="{9D8B030D-6E8A-4147-A177-3AD203B41FA5}">
                      <a16:colId xmlns:a16="http://schemas.microsoft.com/office/drawing/2014/main" val="1594598855"/>
                    </a:ext>
                  </a:extLst>
                </a:gridCol>
                <a:gridCol w="566189">
                  <a:extLst>
                    <a:ext uri="{9D8B030D-6E8A-4147-A177-3AD203B41FA5}">
                      <a16:colId xmlns:a16="http://schemas.microsoft.com/office/drawing/2014/main" val="1318351204"/>
                    </a:ext>
                  </a:extLst>
                </a:gridCol>
                <a:gridCol w="566189">
                  <a:extLst>
                    <a:ext uri="{9D8B030D-6E8A-4147-A177-3AD203B41FA5}">
                      <a16:colId xmlns:a16="http://schemas.microsoft.com/office/drawing/2014/main" val="1163824420"/>
                    </a:ext>
                  </a:extLst>
                </a:gridCol>
                <a:gridCol w="566189">
                  <a:extLst>
                    <a:ext uri="{9D8B030D-6E8A-4147-A177-3AD203B41FA5}">
                      <a16:colId xmlns:a16="http://schemas.microsoft.com/office/drawing/2014/main" val="3138117339"/>
                    </a:ext>
                  </a:extLst>
                </a:gridCol>
                <a:gridCol w="566189">
                  <a:extLst>
                    <a:ext uri="{9D8B030D-6E8A-4147-A177-3AD203B41FA5}">
                      <a16:colId xmlns:a16="http://schemas.microsoft.com/office/drawing/2014/main" val="593520144"/>
                    </a:ext>
                  </a:extLst>
                </a:gridCol>
                <a:gridCol w="566189">
                  <a:extLst>
                    <a:ext uri="{9D8B030D-6E8A-4147-A177-3AD203B41FA5}">
                      <a16:colId xmlns:a16="http://schemas.microsoft.com/office/drawing/2014/main" val="18076267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 Numeric variable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0" marT="0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mean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76" marR="36576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std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76" marR="36576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min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76" marR="36576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25%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76" marR="36576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50%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76" marR="36576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75%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76" marR="36576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max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76" marR="36576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9422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fraud_amount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712.5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1347.9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841.7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10218.9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76367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50.11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14.42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39.5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50.2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59.55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90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690512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personal_income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60214.8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19277.9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15000.0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47653.0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60076.3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72930.5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122755.0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953366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family_income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90508.8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23825.7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19922.8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72906.3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90760.2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106926.4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157695.0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234084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credit_score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648.6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82.8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411.0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591.0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653.0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707.3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850.0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59604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has_loan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669227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owns_home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84666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loan_amount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19889.5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20037.9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4.5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5612.3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13875.7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27839.5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115848.5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71873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transaction_amount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2004.4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2095.5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533.6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1357.2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2846.2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15050.4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538788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account_age_days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2586.1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1443.5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32.0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1329.0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2682.0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3786.5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4999.0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594048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is_fraud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33819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...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2026198"/>
                  </a:ext>
                </a:extLst>
              </a:tr>
            </a:tbl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F93AB89E-1392-3141-373A-11996055C6BC}"/>
              </a:ext>
            </a:extLst>
          </p:cNvPr>
          <p:cNvSpPr/>
          <p:nvPr/>
        </p:nvSpPr>
        <p:spPr>
          <a:xfrm>
            <a:off x="609599" y="1801273"/>
            <a:ext cx="5373748" cy="22085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Overview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3CBCC2-D2C5-25E0-978B-38951BF46637}"/>
              </a:ext>
            </a:extLst>
          </p:cNvPr>
          <p:cNvSpPr/>
          <p:nvPr/>
        </p:nvSpPr>
        <p:spPr>
          <a:xfrm>
            <a:off x="6095995" y="1801273"/>
            <a:ext cx="5486397" cy="22085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Descriptive Statistics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A414F1-0272-65E1-EED3-B936A3003593}"/>
              </a:ext>
            </a:extLst>
          </p:cNvPr>
          <p:cNvSpPr/>
          <p:nvPr/>
        </p:nvSpPr>
        <p:spPr>
          <a:xfrm>
            <a:off x="6082761" y="3649210"/>
            <a:ext cx="2703742" cy="35625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C096CE7E-63F3-DAFD-B018-A9D4789219C2}"/>
              </a:ext>
            </a:extLst>
          </p:cNvPr>
          <p:cNvSpPr/>
          <p:nvPr/>
        </p:nvSpPr>
        <p:spPr>
          <a:xfrm>
            <a:off x="8610601" y="3143175"/>
            <a:ext cx="2415208" cy="427432"/>
          </a:xfrm>
          <a:prstGeom prst="wedgeRectCallout">
            <a:avLst>
              <a:gd name="adj1" fmla="val -41385"/>
              <a:gd name="adj2" fmla="val 82376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Wide ranges: investigating data for outlier is necessary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1EBEBB7-85C6-94D2-929C-D1B54DB07FD1}"/>
              </a:ext>
            </a:extLst>
          </p:cNvPr>
          <p:cNvSpPr/>
          <p:nvPr/>
        </p:nvSpPr>
        <p:spPr>
          <a:xfrm>
            <a:off x="6082761" y="2302182"/>
            <a:ext cx="5526118" cy="21371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8DA9BFC0-F88A-F0C6-6042-56B1BCE83204}"/>
              </a:ext>
            </a:extLst>
          </p:cNvPr>
          <p:cNvSpPr/>
          <p:nvPr/>
        </p:nvSpPr>
        <p:spPr>
          <a:xfrm>
            <a:off x="8938591" y="2606794"/>
            <a:ext cx="2087217" cy="236131"/>
          </a:xfrm>
          <a:prstGeom prst="wedgeRectCallout">
            <a:avLst>
              <a:gd name="adj1" fmla="val -22262"/>
              <a:gd name="adj2" fmla="val -81682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Highly skewed towards 0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91A587D1-A74C-E27A-D9A7-37A843853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7034"/>
              </p:ext>
            </p:extLst>
          </p:nvPr>
        </p:nvGraphicFramePr>
        <p:xfrm>
          <a:off x="6109249" y="4685123"/>
          <a:ext cx="5473151" cy="156312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618307">
                  <a:extLst>
                    <a:ext uri="{9D8B030D-6E8A-4147-A177-3AD203B41FA5}">
                      <a16:colId xmlns:a16="http://schemas.microsoft.com/office/drawing/2014/main" val="203853217"/>
                    </a:ext>
                  </a:extLst>
                </a:gridCol>
                <a:gridCol w="963711">
                  <a:extLst>
                    <a:ext uri="{9D8B030D-6E8A-4147-A177-3AD203B41FA5}">
                      <a16:colId xmlns:a16="http://schemas.microsoft.com/office/drawing/2014/main" val="2953486175"/>
                    </a:ext>
                  </a:extLst>
                </a:gridCol>
                <a:gridCol w="963711">
                  <a:extLst>
                    <a:ext uri="{9D8B030D-6E8A-4147-A177-3AD203B41FA5}">
                      <a16:colId xmlns:a16="http://schemas.microsoft.com/office/drawing/2014/main" val="1898394159"/>
                    </a:ext>
                  </a:extLst>
                </a:gridCol>
                <a:gridCol w="963711">
                  <a:extLst>
                    <a:ext uri="{9D8B030D-6E8A-4147-A177-3AD203B41FA5}">
                      <a16:colId xmlns:a16="http://schemas.microsoft.com/office/drawing/2014/main" val="1740555160"/>
                    </a:ext>
                  </a:extLst>
                </a:gridCol>
                <a:gridCol w="963711">
                  <a:extLst>
                    <a:ext uri="{9D8B030D-6E8A-4147-A177-3AD203B41FA5}">
                      <a16:colId xmlns:a16="http://schemas.microsoft.com/office/drawing/2014/main" val="340406134"/>
                    </a:ext>
                  </a:extLst>
                </a:gridCol>
              </a:tblGrid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Categorical variable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count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unique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top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 err="1">
                          <a:effectLst/>
                        </a:rPr>
                        <a:t>freq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240225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 dirty="0" err="1">
                          <a:effectLst/>
                        </a:rPr>
                        <a:t>transaction_id</a:t>
                      </a:r>
                      <a:endParaRPr lang="en-US" sz="11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T00001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68251861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 dirty="0" err="1">
                          <a:effectLst/>
                        </a:rPr>
                        <a:t>customer_id</a:t>
                      </a:r>
                      <a:endParaRPr lang="en-US" sz="11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486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C9889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84591574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 dirty="0">
                          <a:effectLst/>
                        </a:rPr>
                        <a:t>gender</a:t>
                      </a:r>
                      <a:endParaRPr lang="en-US" sz="11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Female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261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89365018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>
                          <a:effectLst/>
                        </a:rPr>
                        <a:t>education</a:t>
                      </a:r>
                      <a:endParaRPr lang="en-US" sz="1100" b="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500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Bachelor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169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05538006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 dirty="0" err="1">
                          <a:effectLst/>
                        </a:rPr>
                        <a:t>marital_status</a:t>
                      </a:r>
                      <a:endParaRPr lang="en-US" sz="11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4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Married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230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39935155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>
                          <a:effectLst/>
                        </a:rPr>
                        <a:t>region</a:t>
                      </a:r>
                      <a:endParaRPr lang="en-US" sz="1100" b="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4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North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135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821701776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 dirty="0" err="1">
                          <a:effectLst/>
                        </a:rPr>
                        <a:t>transaction_type</a:t>
                      </a:r>
                      <a:endParaRPr lang="en-US" sz="11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4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Transfer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131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6205745"/>
                  </a:ext>
                </a:extLst>
              </a:tr>
              <a:tr h="14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b="0" kern="100" dirty="0" err="1">
                          <a:effectLst/>
                        </a:rPr>
                        <a:t>device_type</a:t>
                      </a:r>
                      <a:endParaRPr lang="en-US" sz="1100" b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4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Mobile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>
                          <a:effectLst/>
                        </a:rPr>
                        <a:t>137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9870571"/>
                  </a:ext>
                </a:extLst>
              </a:tr>
            </a:tbl>
          </a:graphicData>
        </a:graphic>
      </p:graphicFrame>
      <p:sp>
        <p:nvSpPr>
          <p:cNvPr id="53" name="Speech Bubble: Rectangle 52">
            <a:extLst>
              <a:ext uri="{FF2B5EF4-FFF2-40B4-BE49-F238E27FC236}">
                <a16:creationId xmlns:a16="http://schemas.microsoft.com/office/drawing/2014/main" id="{37ECD5D7-6445-757B-F088-06DDF3C75476}"/>
              </a:ext>
            </a:extLst>
          </p:cNvPr>
          <p:cNvSpPr/>
          <p:nvPr/>
        </p:nvSpPr>
        <p:spPr>
          <a:xfrm>
            <a:off x="9054548" y="6253993"/>
            <a:ext cx="2209799" cy="171867"/>
          </a:xfrm>
          <a:prstGeom prst="wedgeRectCallout">
            <a:avLst>
              <a:gd name="adj1" fmla="val 28214"/>
              <a:gd name="adj2" fmla="val -2121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Categories well balanced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A618E0-A5D5-98E7-86E9-C4904271B8CC}"/>
              </a:ext>
            </a:extLst>
          </p:cNvPr>
          <p:cNvSpPr/>
          <p:nvPr/>
        </p:nvSpPr>
        <p:spPr>
          <a:xfrm>
            <a:off x="6109240" y="5221504"/>
            <a:ext cx="5473160" cy="10272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9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F529C-3C76-4B53-C52B-F42CAF2CA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E61A237-86A1-830B-5FCB-3E9FC984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6"/>
            <a:ext cx="10972799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2. Data Cleaning and Preparation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06441-3A43-248E-A7E9-1DCFAB18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4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E6A00B-5FD4-580A-D43B-C2E6A24A9777}"/>
              </a:ext>
            </a:extLst>
          </p:cNvPr>
          <p:cNvSpPr txBox="1">
            <a:spLocks/>
          </p:cNvSpPr>
          <p:nvPr/>
        </p:nvSpPr>
        <p:spPr>
          <a:xfrm>
            <a:off x="609600" y="1112216"/>
            <a:ext cx="1097280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cs typeface="Arial" panose="020B0604020202020204" pitchFamily="34" charset="0"/>
              </a:rPr>
              <a:t>Outlier were kept because they may indicate real fraud cases, no scaling applied until the modeling pipeline</a:t>
            </a:r>
          </a:p>
        </p:txBody>
      </p: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7B09B7FF-737F-FBBD-8DEA-CD366CF1A92F}"/>
              </a:ext>
            </a:extLst>
          </p:cNvPr>
          <p:cNvSpPr/>
          <p:nvPr/>
        </p:nvSpPr>
        <p:spPr>
          <a:xfrm>
            <a:off x="609599" y="1801272"/>
            <a:ext cx="5373748" cy="274320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Detect and Handle Outliers</a:t>
            </a:r>
          </a:p>
        </p:txBody>
      </p:sp>
      <p:sp>
        <p:nvSpPr>
          <p:cNvPr id="44" name="Arrow: Pentagon 43">
            <a:extLst>
              <a:ext uri="{FF2B5EF4-FFF2-40B4-BE49-F238E27FC236}">
                <a16:creationId xmlns:a16="http://schemas.microsoft.com/office/drawing/2014/main" id="{ABBFE714-34CF-E1A9-BFF7-217A0C812658}"/>
              </a:ext>
            </a:extLst>
          </p:cNvPr>
          <p:cNvSpPr/>
          <p:nvPr/>
        </p:nvSpPr>
        <p:spPr>
          <a:xfrm>
            <a:off x="6095995" y="1801272"/>
            <a:ext cx="5486397" cy="274320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Data Standardization</a:t>
            </a:r>
          </a:p>
        </p:txBody>
      </p:sp>
      <p:pic>
        <p:nvPicPr>
          <p:cNvPr id="2049" name="Picture 1" descr="A diagram of a distribution of loan amounts&#10;&#10;AI-generated content may be incorrect.">
            <a:extLst>
              <a:ext uri="{FF2B5EF4-FFF2-40B4-BE49-F238E27FC236}">
                <a16:creationId xmlns:a16="http://schemas.microsoft.com/office/drawing/2014/main" id="{695BE44D-5B44-10A8-7AE5-80B1A4401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2292436"/>
            <a:ext cx="3041374" cy="200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1" descr="A diagram of a distribution of transaction amounts&#10;&#10;AI-generated content may be incorrect.">
            <a:extLst>
              <a:ext uri="{FF2B5EF4-FFF2-40B4-BE49-F238E27FC236}">
                <a16:creationId xmlns:a16="http://schemas.microsoft.com/office/drawing/2014/main" id="{1F0FA69E-FD6C-E6C8-EAA0-2800E0322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43" y="4440531"/>
            <a:ext cx="3004930" cy="200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16DF85-E649-14E2-1494-AC89C5A781AB}"/>
              </a:ext>
            </a:extLst>
          </p:cNvPr>
          <p:cNvSpPr txBox="1"/>
          <p:nvPr/>
        </p:nvSpPr>
        <p:spPr>
          <a:xfrm>
            <a:off x="3754507" y="2397626"/>
            <a:ext cx="22288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ea typeface="Times New Roman" panose="02020603050405020304" pitchFamily="18" charset="0"/>
              </a:rPr>
              <a:t>Upper boundary for loan amount: 61,180</a:t>
            </a:r>
          </a:p>
          <a:p>
            <a:r>
              <a:rPr lang="en-US" sz="1100" kern="0" dirty="0"/>
              <a:t>*using </a:t>
            </a:r>
            <a:r>
              <a:rPr lang="en-US" sz="1100" kern="0" dirty="0">
                <a:effectLst/>
                <a:ea typeface="Times New Roman" panose="02020603050405020304" pitchFamily="18" charset="0"/>
              </a:rPr>
              <a:t>Interquartile Range (IQR)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F1814-2C72-14BF-E114-F77C39EF16C9}"/>
              </a:ext>
            </a:extLst>
          </p:cNvPr>
          <p:cNvSpPr txBox="1"/>
          <p:nvPr/>
        </p:nvSpPr>
        <p:spPr>
          <a:xfrm>
            <a:off x="3754507" y="4699363"/>
            <a:ext cx="22288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ea typeface="Times New Roman" panose="02020603050405020304" pitchFamily="18" charset="0"/>
              </a:rPr>
              <a:t>Upper boundary for transaction amount: 6</a:t>
            </a:r>
            <a:r>
              <a:rPr lang="en-US" sz="1400" kern="0" dirty="0">
                <a:ea typeface="Times New Roman" panose="02020603050405020304" pitchFamily="18" charset="0"/>
              </a:rPr>
              <a:t>,</a:t>
            </a:r>
            <a:r>
              <a:rPr lang="en-US" sz="1400" kern="0" dirty="0">
                <a:effectLst/>
                <a:ea typeface="Times New Roman" panose="02020603050405020304" pitchFamily="18" charset="0"/>
              </a:rPr>
              <a:t>315</a:t>
            </a:r>
          </a:p>
          <a:p>
            <a:r>
              <a:rPr lang="en-US" sz="1100" kern="0" dirty="0"/>
              <a:t>*using </a:t>
            </a:r>
            <a:r>
              <a:rPr lang="en-US" sz="1100" kern="0" dirty="0">
                <a:effectLst/>
                <a:ea typeface="Times New Roman" panose="02020603050405020304" pitchFamily="18" charset="0"/>
              </a:rPr>
              <a:t>Interquartile Range (IQR)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2B6050-3A4A-1299-791E-9C6FC9742D22}"/>
              </a:ext>
            </a:extLst>
          </p:cNvPr>
          <p:cNvSpPr txBox="1"/>
          <p:nvPr/>
        </p:nvSpPr>
        <p:spPr>
          <a:xfrm>
            <a:off x="6096000" y="2202113"/>
            <a:ext cx="5486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already clean with no missing or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However, some numeric variables use different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personal_income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family_income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credit_score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loan_amount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transaction_amount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account_age_days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num_prev_transactions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avg_transaction_value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internet_usage_hrs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mobile_usage_hrs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fraud_amount</a:t>
            </a:r>
            <a:endParaRPr lang="en-US" sz="1400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7317A9CD-4CDB-CB34-0467-00AF3BBBE80F}"/>
              </a:ext>
            </a:extLst>
          </p:cNvPr>
          <p:cNvSpPr/>
          <p:nvPr/>
        </p:nvSpPr>
        <p:spPr>
          <a:xfrm rot="10800000">
            <a:off x="4432852" y="3106459"/>
            <a:ext cx="864705" cy="16924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C99931C-142E-C0E6-CECB-DCF96132B317}"/>
              </a:ext>
            </a:extLst>
          </p:cNvPr>
          <p:cNvSpPr/>
          <p:nvPr/>
        </p:nvSpPr>
        <p:spPr>
          <a:xfrm>
            <a:off x="4432852" y="4469263"/>
            <a:ext cx="864705" cy="16924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E330FF-D366-456C-5661-2F416C15004E}"/>
              </a:ext>
            </a:extLst>
          </p:cNvPr>
          <p:cNvSpPr/>
          <p:nvPr/>
        </p:nvSpPr>
        <p:spPr>
          <a:xfrm>
            <a:off x="3896143" y="3344123"/>
            <a:ext cx="1938121" cy="10642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Outliers kept in data because they might represent fraudulent cases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34556D7-611C-676A-7BDA-57F9AFF5B7FE}"/>
              </a:ext>
            </a:extLst>
          </p:cNvPr>
          <p:cNvSpPr/>
          <p:nvPr/>
        </p:nvSpPr>
        <p:spPr>
          <a:xfrm>
            <a:off x="6202843" y="5777522"/>
            <a:ext cx="5272700" cy="6024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Standardization was not applied here. It is performed automatically inside the modelling pipeline.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0E70C801-4A3F-0F95-D6D7-6DD84E51168B}"/>
              </a:ext>
            </a:extLst>
          </p:cNvPr>
          <p:cNvSpPr/>
          <p:nvPr/>
        </p:nvSpPr>
        <p:spPr>
          <a:xfrm rot="10800000">
            <a:off x="7558701" y="5480874"/>
            <a:ext cx="2560983" cy="126429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0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CDB54-EBDC-F4C2-E270-E370AAAA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BCA695-9E83-B865-99FA-4F9F0612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6"/>
            <a:ext cx="10972799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3. Exploratory Data Analysis (EDA) 1/2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D0B98-304E-B27F-5816-7155CBB4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5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885726-4CCF-E7A0-6653-C776E9C3409A}"/>
              </a:ext>
            </a:extLst>
          </p:cNvPr>
          <p:cNvSpPr txBox="1">
            <a:spLocks/>
          </p:cNvSpPr>
          <p:nvPr/>
        </p:nvSpPr>
        <p:spPr>
          <a:xfrm>
            <a:off x="609600" y="1112216"/>
            <a:ext cx="1097280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cs typeface="Arial" panose="020B0604020202020204" pitchFamily="34" charset="0"/>
              </a:rPr>
              <a:t>Correlation analysis shows almost no fraud patterns. Income is the only small indicator. </a:t>
            </a:r>
          </a:p>
        </p:txBody>
      </p:sp>
      <p:pic>
        <p:nvPicPr>
          <p:cNvPr id="2" name="Picture 1" descr="A diagram of a graph&#10;&#10;AI-generated content may be incorrect.">
            <a:extLst>
              <a:ext uri="{FF2B5EF4-FFF2-40B4-BE49-F238E27FC236}">
                <a16:creationId xmlns:a16="http://schemas.microsoft.com/office/drawing/2014/main" id="{051C11DA-E5AC-4FE2-C7C0-65684285B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99"/>
          <a:stretch>
            <a:fillRect/>
          </a:stretch>
        </p:blipFill>
        <p:spPr>
          <a:xfrm>
            <a:off x="609598" y="2160824"/>
            <a:ext cx="5635337" cy="4332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F74C88-3A92-4D46-5CA8-C717E9E94AD3}"/>
              </a:ext>
            </a:extLst>
          </p:cNvPr>
          <p:cNvSpPr/>
          <p:nvPr/>
        </p:nvSpPr>
        <p:spPr>
          <a:xfrm>
            <a:off x="609598" y="1801273"/>
            <a:ext cx="10972799" cy="23142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Correlation Heatmap of Numeric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8C18A-AC07-6E9E-1E44-8A053AF14884}"/>
              </a:ext>
            </a:extLst>
          </p:cNvPr>
          <p:cNvSpPr txBox="1"/>
          <p:nvPr/>
        </p:nvSpPr>
        <p:spPr>
          <a:xfrm>
            <a:off x="6244934" y="2202113"/>
            <a:ext cx="533746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Most numeric variables show very weak or no correlation with fraud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Personal income has slight negative correlation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Lower income →</a:t>
            </a:r>
            <a:r>
              <a:rPr lang="ja-JP" altLang="en-US" sz="1400"/>
              <a:t> </a:t>
            </a:r>
            <a:r>
              <a:rPr lang="en-US" altLang="ja-JP" sz="1400" dirty="0"/>
              <a:t>slightly higher fraud risk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400" dirty="0"/>
              <a:t>Strong correlation appears between personal income and family income ( not related to fraud)</a:t>
            </a:r>
          </a:p>
          <a:p>
            <a:pPr lvl="1"/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427231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22C6-0C20-7595-AC9C-DCE3DC39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A5E81E-B666-18FF-59D1-0A65D9CD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6"/>
            <a:ext cx="10972799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3. Exploratory Data Analysis (EDA) 2/2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7CC86-9FF1-7456-AF26-DF6D15F4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887D67-A90F-9047-A158-D12F69A09024}"/>
              </a:ext>
            </a:extLst>
          </p:cNvPr>
          <p:cNvSpPr txBox="1">
            <a:spLocks/>
          </p:cNvSpPr>
          <p:nvPr/>
        </p:nvSpPr>
        <p:spPr>
          <a:xfrm>
            <a:off x="609600" y="1112216"/>
            <a:ext cx="1097280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cs typeface="Arial" panose="020B0604020202020204" pitchFamily="34" charset="0"/>
              </a:rPr>
              <a:t>EDA show no strong fraud patterns across demographic or transaction types.</a:t>
            </a:r>
          </a:p>
        </p:txBody>
      </p:sp>
      <p:pic>
        <p:nvPicPr>
          <p:cNvPr id="7" name="Picture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5DA0655C-D2CF-704D-5B9F-B60531162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596" y="2258864"/>
            <a:ext cx="2706970" cy="1881849"/>
          </a:xfrm>
          <a:prstGeom prst="rect">
            <a:avLst/>
          </a:prstGeom>
        </p:spPr>
      </p:pic>
      <p:pic>
        <p:nvPicPr>
          <p:cNvPr id="10" name="Picture 9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1DEAFA1B-DF16-07CE-AE87-5710EFD5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596" y="4430621"/>
            <a:ext cx="2706970" cy="2063347"/>
          </a:xfrm>
          <a:prstGeom prst="rect">
            <a:avLst/>
          </a:prstGeom>
        </p:spPr>
      </p:pic>
      <p:pic>
        <p:nvPicPr>
          <p:cNvPr id="11" name="Picture 10" descr="A graph of blue bars&#10;&#10;AI-generated content may be incorrect.">
            <a:extLst>
              <a:ext uri="{FF2B5EF4-FFF2-40B4-BE49-F238E27FC236}">
                <a16:creationId xmlns:a16="http://schemas.microsoft.com/office/drawing/2014/main" id="{FC86A320-1D11-BDEF-7114-C85FAEF6D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40" y="4430621"/>
            <a:ext cx="2468857" cy="1881849"/>
          </a:xfrm>
          <a:prstGeom prst="rect">
            <a:avLst/>
          </a:prstGeom>
        </p:spPr>
      </p:pic>
      <p:pic>
        <p:nvPicPr>
          <p:cNvPr id="12" name="Picture 11" descr="A graph of blue bars&#10;&#10;AI-generated content may be incorrect.">
            <a:extLst>
              <a:ext uri="{FF2B5EF4-FFF2-40B4-BE49-F238E27FC236}">
                <a16:creationId xmlns:a16="http://schemas.microsoft.com/office/drawing/2014/main" id="{2D8002FD-2F1E-BA0E-77CA-39C5AB472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6917" y="2258864"/>
            <a:ext cx="2468857" cy="1881849"/>
          </a:xfrm>
          <a:prstGeom prst="rect">
            <a:avLst/>
          </a:prstGeom>
        </p:spPr>
      </p:pic>
      <p:pic>
        <p:nvPicPr>
          <p:cNvPr id="13" name="Picture 12" descr="A graph of a graph with text&#10;&#10;AI-generated content may be incorrect.">
            <a:extLst>
              <a:ext uri="{FF2B5EF4-FFF2-40B4-BE49-F238E27FC236}">
                <a16:creationId xmlns:a16="http://schemas.microsoft.com/office/drawing/2014/main" id="{50230854-A527-AF33-70DE-C7C9A29C9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567" y="4430621"/>
            <a:ext cx="2498208" cy="2035573"/>
          </a:xfrm>
          <a:prstGeom prst="rect">
            <a:avLst/>
          </a:prstGeom>
        </p:spPr>
      </p:pic>
      <p:pic>
        <p:nvPicPr>
          <p:cNvPr id="14" name="Picture 1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5964B67C-E595-8701-FBE5-D0DCCFCAE8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296" y="2258864"/>
            <a:ext cx="2442947" cy="1881849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C868E73-FB20-BF68-FDCC-E9349B6BC996}"/>
              </a:ext>
            </a:extLst>
          </p:cNvPr>
          <p:cNvSpPr/>
          <p:nvPr/>
        </p:nvSpPr>
        <p:spPr>
          <a:xfrm>
            <a:off x="609600" y="2046546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AFD762-13B8-D5F8-C742-61CE2A4A8A1A}"/>
              </a:ext>
            </a:extLst>
          </p:cNvPr>
          <p:cNvSpPr/>
          <p:nvPr/>
        </p:nvSpPr>
        <p:spPr>
          <a:xfrm>
            <a:off x="3183258" y="2046546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8EEA18-6BBF-6672-01A1-4DA9D4D26A3D}"/>
              </a:ext>
            </a:extLst>
          </p:cNvPr>
          <p:cNvSpPr/>
          <p:nvPr/>
        </p:nvSpPr>
        <p:spPr>
          <a:xfrm>
            <a:off x="5890228" y="2046546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36AF7E-C5FA-4A79-9D7E-B80BAF74F8A2}"/>
              </a:ext>
            </a:extLst>
          </p:cNvPr>
          <p:cNvSpPr/>
          <p:nvPr/>
        </p:nvSpPr>
        <p:spPr>
          <a:xfrm>
            <a:off x="609600" y="4177774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4AED14-C082-5114-C157-5F04EF4C41A1}"/>
              </a:ext>
            </a:extLst>
          </p:cNvPr>
          <p:cNvSpPr/>
          <p:nvPr/>
        </p:nvSpPr>
        <p:spPr>
          <a:xfrm>
            <a:off x="3183258" y="4177774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8857DB-D4B9-070C-4951-86F03DB382B3}"/>
              </a:ext>
            </a:extLst>
          </p:cNvPr>
          <p:cNvSpPr/>
          <p:nvPr/>
        </p:nvSpPr>
        <p:spPr>
          <a:xfrm>
            <a:off x="5890228" y="4177774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F79A1-E04B-FC22-EADA-55583B3F2B33}"/>
              </a:ext>
            </a:extLst>
          </p:cNvPr>
          <p:cNvSpPr txBox="1"/>
          <p:nvPr/>
        </p:nvSpPr>
        <p:spPr>
          <a:xfrm>
            <a:off x="8359085" y="2214311"/>
            <a:ext cx="3223315" cy="5262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171450" lvl="1"/>
            <a:r>
              <a:rPr lang="en-US" sz="1400" dirty="0"/>
              <a:t>Median age similar between non-fraud and fraud victims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7CB8E1-BA3D-DDD3-72AF-E4762F9281A0}"/>
              </a:ext>
            </a:extLst>
          </p:cNvPr>
          <p:cNvSpPr/>
          <p:nvPr/>
        </p:nvSpPr>
        <p:spPr>
          <a:xfrm>
            <a:off x="8225774" y="2062059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39A453-94BB-C862-1D52-3DBA0301F5C9}"/>
              </a:ext>
            </a:extLst>
          </p:cNvPr>
          <p:cNvSpPr txBox="1"/>
          <p:nvPr/>
        </p:nvSpPr>
        <p:spPr>
          <a:xfrm>
            <a:off x="8359085" y="2952861"/>
            <a:ext cx="3223315" cy="5262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171450" lvl="1"/>
            <a:r>
              <a:rPr lang="en-US" sz="1400" dirty="0"/>
              <a:t>Female customers 12% more likely to be victim of fraud than males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08994B2-49D4-ACD7-7571-682339EFBEAA}"/>
              </a:ext>
            </a:extLst>
          </p:cNvPr>
          <p:cNvSpPr/>
          <p:nvPr/>
        </p:nvSpPr>
        <p:spPr>
          <a:xfrm>
            <a:off x="8225774" y="2800609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F022-1329-65AF-BC8B-4978265C506E}"/>
              </a:ext>
            </a:extLst>
          </p:cNvPr>
          <p:cNvSpPr txBox="1"/>
          <p:nvPr/>
        </p:nvSpPr>
        <p:spPr>
          <a:xfrm>
            <a:off x="8359085" y="3698748"/>
            <a:ext cx="3223315" cy="5262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171450" lvl="1"/>
            <a:r>
              <a:rPr lang="en-US" sz="1400" dirty="0"/>
              <a:t>Fraud rate variations between transaction types are small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5E60D2-85C0-62A0-0CA4-CC18FABDC174}"/>
              </a:ext>
            </a:extLst>
          </p:cNvPr>
          <p:cNvSpPr/>
          <p:nvPr/>
        </p:nvSpPr>
        <p:spPr>
          <a:xfrm>
            <a:off x="8225774" y="3546496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B5B19D-9CFB-2363-5589-D1B26DEE4981}"/>
              </a:ext>
            </a:extLst>
          </p:cNvPr>
          <p:cNvSpPr txBox="1"/>
          <p:nvPr/>
        </p:nvSpPr>
        <p:spPr>
          <a:xfrm>
            <a:off x="8359085" y="4463372"/>
            <a:ext cx="3223315" cy="5262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171450" lvl="1"/>
            <a:r>
              <a:rPr lang="en-US" sz="1400" dirty="0"/>
              <a:t>Fraud rate variations between device types are small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F5F3329-90F0-8F0C-5357-7067EDB89E19}"/>
              </a:ext>
            </a:extLst>
          </p:cNvPr>
          <p:cNvSpPr/>
          <p:nvPr/>
        </p:nvSpPr>
        <p:spPr>
          <a:xfrm>
            <a:off x="8225774" y="4311120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2DE38E-8037-8093-7742-9099F393584F}"/>
              </a:ext>
            </a:extLst>
          </p:cNvPr>
          <p:cNvSpPr txBox="1"/>
          <p:nvPr/>
        </p:nvSpPr>
        <p:spPr>
          <a:xfrm>
            <a:off x="8359085" y="5201922"/>
            <a:ext cx="3223315" cy="5262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171450" lvl="1"/>
            <a:r>
              <a:rPr lang="en-US" sz="1400" dirty="0"/>
              <a:t>Fraud rate variations between regions are small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91A440-D580-7969-CB4E-7D06BBBC4B03}"/>
              </a:ext>
            </a:extLst>
          </p:cNvPr>
          <p:cNvSpPr/>
          <p:nvPr/>
        </p:nvSpPr>
        <p:spPr>
          <a:xfrm>
            <a:off x="8225774" y="5049670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155D2D-CD90-A0BB-2F5F-37798C0331F7}"/>
              </a:ext>
            </a:extLst>
          </p:cNvPr>
          <p:cNvSpPr txBox="1"/>
          <p:nvPr/>
        </p:nvSpPr>
        <p:spPr>
          <a:xfrm>
            <a:off x="8359085" y="5947809"/>
            <a:ext cx="3223315" cy="5262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171450" lvl="1"/>
            <a:r>
              <a:rPr lang="en-US" sz="1400" dirty="0"/>
              <a:t>Except for PhD’s, fraud rate doesn’t vary much based on education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28304E-62CE-BCE2-9889-8CE45CD371AA}"/>
              </a:ext>
            </a:extLst>
          </p:cNvPr>
          <p:cNvSpPr/>
          <p:nvPr/>
        </p:nvSpPr>
        <p:spPr>
          <a:xfrm>
            <a:off x="8225774" y="5795557"/>
            <a:ext cx="304800" cy="3048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8B19E8-E8D5-90C1-C9AF-FB4E2705F01E}"/>
              </a:ext>
            </a:extLst>
          </p:cNvPr>
          <p:cNvSpPr/>
          <p:nvPr/>
        </p:nvSpPr>
        <p:spPr>
          <a:xfrm>
            <a:off x="609598" y="1801273"/>
            <a:ext cx="10972799" cy="23142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Other Exploratory Data Analysis (sample)</a:t>
            </a:r>
          </a:p>
        </p:txBody>
      </p:sp>
    </p:spTree>
    <p:extLst>
      <p:ext uri="{BB962C8B-B14F-4D97-AF65-F5344CB8AC3E}">
        <p14:creationId xmlns:p14="http://schemas.microsoft.com/office/powerpoint/2010/main" val="197375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80EA-464F-B9E4-32B1-79969D21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DFEEA2C-13BA-F7CB-A53F-42147C9C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6"/>
            <a:ext cx="10972799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4. Fraud Analysis 1/2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50F12-B485-9C13-074D-6634C4C4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2FCA8F-124F-7949-D288-68C27FB883E5}"/>
              </a:ext>
            </a:extLst>
          </p:cNvPr>
          <p:cNvSpPr txBox="1">
            <a:spLocks/>
          </p:cNvSpPr>
          <p:nvPr/>
        </p:nvSpPr>
        <p:spPr>
          <a:xfrm>
            <a:off x="609600" y="1112216"/>
            <a:ext cx="1097280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cs typeface="Arial" panose="020B0604020202020204" pitchFamily="34" charset="0"/>
              </a:rPr>
              <a:t>Transaction and loan amounts  show no meaningful difference between fraud and non-fraud.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41B205-FF2F-E81B-7A4D-E439A8FF3849}"/>
              </a:ext>
            </a:extLst>
          </p:cNvPr>
          <p:cNvGrpSpPr/>
          <p:nvPr/>
        </p:nvGrpSpPr>
        <p:grpSpPr>
          <a:xfrm>
            <a:off x="609599" y="1801271"/>
            <a:ext cx="10972799" cy="287301"/>
            <a:chOff x="609599" y="1801272"/>
            <a:chExt cx="7023653" cy="276006"/>
          </a:xfrm>
        </p:grpSpPr>
        <p:sp>
          <p:nvSpPr>
            <p:cNvPr id="42" name="Arrow: Pentagon 41">
              <a:extLst>
                <a:ext uri="{FF2B5EF4-FFF2-40B4-BE49-F238E27FC236}">
                  <a16:creationId xmlns:a16="http://schemas.microsoft.com/office/drawing/2014/main" id="{AE66323F-4FAA-18AA-2CA3-FA036A5C5145}"/>
                </a:ext>
              </a:extLst>
            </p:cNvPr>
            <p:cNvSpPr/>
            <p:nvPr/>
          </p:nvSpPr>
          <p:spPr>
            <a:xfrm>
              <a:off x="609599" y="1801272"/>
              <a:ext cx="3439721" cy="276006"/>
            </a:xfrm>
            <a:prstGeom prst="homePlat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Outliers Analysis</a:t>
              </a:r>
            </a:p>
          </p:txBody>
        </p:sp>
        <p:sp>
          <p:nvSpPr>
            <p:cNvPr id="44" name="Arrow: Pentagon 43">
              <a:extLst>
                <a:ext uri="{FF2B5EF4-FFF2-40B4-BE49-F238E27FC236}">
                  <a16:creationId xmlns:a16="http://schemas.microsoft.com/office/drawing/2014/main" id="{7753D5E7-7C9F-407C-55A9-B917AFEFCC21}"/>
                </a:ext>
              </a:extLst>
            </p:cNvPr>
            <p:cNvSpPr/>
            <p:nvPr/>
          </p:nvSpPr>
          <p:spPr>
            <a:xfrm>
              <a:off x="4121425" y="1801272"/>
              <a:ext cx="3511827" cy="276006"/>
            </a:xfrm>
            <a:prstGeom prst="homePlat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Confidence Interval Analysis</a:t>
              </a: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C08E932-FB16-ADC9-59DA-5B3BCC72C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72455"/>
              </p:ext>
            </p:extLst>
          </p:nvPr>
        </p:nvGraphicFramePr>
        <p:xfrm>
          <a:off x="609599" y="2837119"/>
          <a:ext cx="5373752" cy="81013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599398">
                  <a:extLst>
                    <a:ext uri="{9D8B030D-6E8A-4147-A177-3AD203B41FA5}">
                      <a16:colId xmlns:a16="http://schemas.microsoft.com/office/drawing/2014/main" val="203853217"/>
                    </a:ext>
                  </a:extLst>
                </a:gridCol>
                <a:gridCol w="763726">
                  <a:extLst>
                    <a:ext uri="{9D8B030D-6E8A-4147-A177-3AD203B41FA5}">
                      <a16:colId xmlns:a16="http://schemas.microsoft.com/office/drawing/2014/main" val="2953486175"/>
                    </a:ext>
                  </a:extLst>
                </a:gridCol>
                <a:gridCol w="752657">
                  <a:extLst>
                    <a:ext uri="{9D8B030D-6E8A-4147-A177-3AD203B41FA5}">
                      <a16:colId xmlns:a16="http://schemas.microsoft.com/office/drawing/2014/main" val="1898394159"/>
                    </a:ext>
                  </a:extLst>
                </a:gridCol>
                <a:gridCol w="752657">
                  <a:extLst>
                    <a:ext uri="{9D8B030D-6E8A-4147-A177-3AD203B41FA5}">
                      <a16:colId xmlns:a16="http://schemas.microsoft.com/office/drawing/2014/main" val="1740555160"/>
                    </a:ext>
                  </a:extLst>
                </a:gridCol>
                <a:gridCol w="752657">
                  <a:extLst>
                    <a:ext uri="{9D8B030D-6E8A-4147-A177-3AD203B41FA5}">
                      <a16:colId xmlns:a16="http://schemas.microsoft.com/office/drawing/2014/main" val="340406134"/>
                    </a:ext>
                  </a:extLst>
                </a:gridCol>
                <a:gridCol w="752657">
                  <a:extLst>
                    <a:ext uri="{9D8B030D-6E8A-4147-A177-3AD203B41FA5}">
                      <a16:colId xmlns:a16="http://schemas.microsoft.com/office/drawing/2014/main" val="790257781"/>
                    </a:ext>
                  </a:extLst>
                </a:gridCol>
              </a:tblGrid>
              <a:tr h="1929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</a:rPr>
                        <a:t>Variable</a:t>
                      </a:r>
                      <a:endParaRPr lang="en-US" sz="12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</a:rPr>
                        <a:t>Outliers</a:t>
                      </a:r>
                      <a:endParaRPr lang="en-US" sz="12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</a:rPr>
                        <a:t>Q1</a:t>
                      </a:r>
                      <a:endParaRPr lang="en-US" sz="12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</a:rPr>
                        <a:t>Q3</a:t>
                      </a:r>
                      <a:endParaRPr lang="en-US" sz="12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</a:rPr>
                        <a:t>IQR</a:t>
                      </a:r>
                      <a:endParaRPr lang="en-US" sz="12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Upper Bound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240225"/>
                  </a:ext>
                </a:extLst>
              </a:tr>
              <a:tr h="179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transaction_amount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25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</a:rPr>
                        <a:t>533.6</a:t>
                      </a:r>
                      <a:endParaRPr lang="en-US" sz="1200" kern="1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2846.2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2312.6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6315.1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68251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loan_amount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22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5612.3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27839.5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22227.2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61180.2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845915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7FD5DE-AFF0-0874-6A66-C70E448C76DB}"/>
              </a:ext>
            </a:extLst>
          </p:cNvPr>
          <p:cNvSpPr txBox="1"/>
          <p:nvPr/>
        </p:nvSpPr>
        <p:spPr>
          <a:xfrm>
            <a:off x="6095998" y="2197160"/>
            <a:ext cx="54864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600" b="1" dirty="0">
                <a:effectLst/>
                <a:ea typeface="Times New Roman" panose="02020603050405020304" pitchFamily="18" charset="0"/>
              </a:rPr>
              <a:t>CI for mean transaction amount (fraud vs non-fraud)</a:t>
            </a:r>
            <a:endParaRPr lang="en-US" sz="1600" dirty="0">
              <a:effectLst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Fraud transaction 95% CI : 1661 to 2197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Non-Fraud transaction 95% CI : 1826 to 2329</a:t>
            </a:r>
          </a:p>
          <a:p>
            <a:pPr marL="0" marR="0">
              <a:buNone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>
              <a:buNone/>
            </a:pPr>
            <a:endParaRPr lang="en-US" sz="1600" dirty="0">
              <a:ea typeface="Times New Roman" panose="02020603050405020304" pitchFamily="18" charset="0"/>
            </a:endParaRPr>
          </a:p>
          <a:p>
            <a:pPr marL="0" marR="0">
              <a:buNone/>
            </a:pPr>
            <a:endParaRPr lang="en-US" sz="1600" b="1" dirty="0">
              <a:effectLst/>
              <a:ea typeface="Times New Roman" panose="02020603050405020304" pitchFamily="18" charset="0"/>
            </a:endParaRPr>
          </a:p>
          <a:p>
            <a:pPr marL="0" marR="0">
              <a:buNone/>
            </a:pPr>
            <a:endParaRPr lang="en-US" sz="1600" b="1" dirty="0">
              <a:ea typeface="Times New Roman" panose="02020603050405020304" pitchFamily="18" charset="0"/>
            </a:endParaRPr>
          </a:p>
          <a:p>
            <a:pPr marL="0" marR="0">
              <a:buNone/>
            </a:pPr>
            <a:endParaRPr lang="en-US" sz="1600" b="1" dirty="0">
              <a:effectLst/>
              <a:ea typeface="Times New Roman" panose="02020603050405020304" pitchFamily="18" charset="0"/>
            </a:endParaRPr>
          </a:p>
          <a:p>
            <a:pPr marL="0" marR="0">
              <a:buNone/>
            </a:pPr>
            <a:endParaRPr lang="en-US" sz="1600" b="1" dirty="0"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600" b="1" dirty="0">
                <a:effectLst/>
                <a:ea typeface="Times New Roman" panose="02020603050405020304" pitchFamily="18" charset="0"/>
              </a:rPr>
              <a:t>CI for mean loan amount (fraud vs non-fraud)</a:t>
            </a:r>
            <a:endParaRPr lang="en-US" sz="1600" dirty="0">
              <a:effectLst/>
              <a:ea typeface="Times New Roman" panose="02020603050405020304" pitchFamily="18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Fraud 95% CI: 17398.64 to 22151.45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Non-Fraud 95% CI: 17415.6 to 22584.95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5D5147-1C90-9FD9-297D-4C03A09D6EA6}"/>
              </a:ext>
            </a:extLst>
          </p:cNvPr>
          <p:cNvSpPr/>
          <p:nvPr/>
        </p:nvSpPr>
        <p:spPr>
          <a:xfrm>
            <a:off x="6202848" y="3301424"/>
            <a:ext cx="5272700" cy="79104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Transaction amount alone can not be used to identify fraud, and additional feature must be analyzed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67FD06-D545-B7B9-2AD3-7A7A434ED3EA}"/>
              </a:ext>
            </a:extLst>
          </p:cNvPr>
          <p:cNvSpPr/>
          <p:nvPr/>
        </p:nvSpPr>
        <p:spPr>
          <a:xfrm>
            <a:off x="6202848" y="5501749"/>
            <a:ext cx="5272700" cy="79104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Loan amount does not help differentiate fraud from non-fraud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9E579D-FFE5-22E1-928C-618538D5414D}"/>
              </a:ext>
            </a:extLst>
          </p:cNvPr>
          <p:cNvSpPr txBox="1"/>
          <p:nvPr/>
        </p:nvSpPr>
        <p:spPr>
          <a:xfrm>
            <a:off x="609594" y="2197160"/>
            <a:ext cx="54864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600" dirty="0">
                <a:ea typeface="Times New Roman" panose="02020603050405020304" pitchFamily="18" charset="0"/>
              </a:rPr>
              <a:t>Outliers detected in loan and transaction amounts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Outlier kept because they may represent fraud</a:t>
            </a: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FFDBACEB-CF6A-D801-CC0A-CB37BC0B6081}"/>
              </a:ext>
            </a:extLst>
          </p:cNvPr>
          <p:cNvSpPr/>
          <p:nvPr/>
        </p:nvSpPr>
        <p:spPr>
          <a:xfrm rot="10800000">
            <a:off x="8406845" y="3060194"/>
            <a:ext cx="864705" cy="16924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369F180-73E5-28CA-4D4F-59B4E629693D}"/>
              </a:ext>
            </a:extLst>
          </p:cNvPr>
          <p:cNvSpPr/>
          <p:nvPr/>
        </p:nvSpPr>
        <p:spPr>
          <a:xfrm rot="10800000">
            <a:off x="8406845" y="5268951"/>
            <a:ext cx="864705" cy="16924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39C4A4-180F-BEB7-9F20-E098165891F2}"/>
              </a:ext>
            </a:extLst>
          </p:cNvPr>
          <p:cNvSpPr/>
          <p:nvPr/>
        </p:nvSpPr>
        <p:spPr>
          <a:xfrm>
            <a:off x="8806924" y="2495032"/>
            <a:ext cx="1154658" cy="21945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2EC18C-AE38-0ADA-B8B5-792B93091411}"/>
              </a:ext>
            </a:extLst>
          </p:cNvPr>
          <p:cNvSpPr/>
          <p:nvPr/>
        </p:nvSpPr>
        <p:spPr>
          <a:xfrm>
            <a:off x="9271550" y="2745770"/>
            <a:ext cx="1154658" cy="21556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5716CD-6321-B704-0470-CF181214D5AD}"/>
              </a:ext>
            </a:extLst>
          </p:cNvPr>
          <p:cNvSpPr/>
          <p:nvPr/>
        </p:nvSpPr>
        <p:spPr>
          <a:xfrm>
            <a:off x="10660822" y="2495031"/>
            <a:ext cx="814726" cy="466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sz="1600" dirty="0">
                <a:solidFill>
                  <a:srgbClr val="00B0F0"/>
                </a:solidFill>
              </a:rPr>
              <a:t>Similar ranges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39AFBB2-5422-C5BC-3972-C45B4DA20CEA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>
            <a:off x="9961582" y="2604760"/>
            <a:ext cx="699240" cy="123421"/>
          </a:xfrm>
          <a:prstGeom prst="bentConnector3">
            <a:avLst>
              <a:gd name="adj1" fmla="val 8077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4FE6BC6-4C22-E8E4-518A-B0C39595621E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10426208" y="2728181"/>
            <a:ext cx="234614" cy="125370"/>
          </a:xfrm>
          <a:prstGeom prst="bentConnector3">
            <a:avLst>
              <a:gd name="adj1" fmla="val 40829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533035D-C317-0F06-A9A7-765BFBA64892}"/>
              </a:ext>
            </a:extLst>
          </p:cNvPr>
          <p:cNvSpPr/>
          <p:nvPr/>
        </p:nvSpPr>
        <p:spPr>
          <a:xfrm>
            <a:off x="7745506" y="4684258"/>
            <a:ext cx="1904103" cy="21556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3FA6BC-3869-AB59-512C-1BA6C85C541A}"/>
              </a:ext>
            </a:extLst>
          </p:cNvPr>
          <p:cNvSpPr/>
          <p:nvPr/>
        </p:nvSpPr>
        <p:spPr>
          <a:xfrm>
            <a:off x="8175811" y="4934997"/>
            <a:ext cx="1821518" cy="21556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D412CC-60AF-4A73-46AA-199B429121FA}"/>
              </a:ext>
            </a:extLst>
          </p:cNvPr>
          <p:cNvSpPr/>
          <p:nvPr/>
        </p:nvSpPr>
        <p:spPr>
          <a:xfrm>
            <a:off x="10253459" y="4684257"/>
            <a:ext cx="814726" cy="466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sz="1600" dirty="0">
                <a:solidFill>
                  <a:srgbClr val="00B0F0"/>
                </a:solidFill>
              </a:rPr>
              <a:t>Similar ranges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183176C-3637-CEEC-08D5-EAFC234E4893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9649609" y="4792039"/>
            <a:ext cx="603850" cy="125368"/>
          </a:xfrm>
          <a:prstGeom prst="bentConnector3">
            <a:avLst>
              <a:gd name="adj1" fmla="val 78504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89362D0-9DFD-FE77-88D2-6EC01257F398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9997329" y="4917407"/>
            <a:ext cx="256130" cy="125370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01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FBC8-ACDF-85EB-2B84-906ED1FB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16B673-99ED-D525-1D18-7051582D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6"/>
            <a:ext cx="10972799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4. Fraud Analysis 2/2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EA2A4-2785-DB05-66F0-EBAAA588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8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84C12FE-8C5D-2488-F5D2-84860EAD501D}"/>
              </a:ext>
            </a:extLst>
          </p:cNvPr>
          <p:cNvSpPr txBox="1">
            <a:spLocks/>
          </p:cNvSpPr>
          <p:nvPr/>
        </p:nvSpPr>
        <p:spPr>
          <a:xfrm>
            <a:off x="609600" y="1112216"/>
            <a:ext cx="1097280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cs typeface="Arial" panose="020B0604020202020204" pitchFamily="34" charset="0"/>
              </a:rPr>
              <a:t>Fraud is hard to predict with available features. Income is the only notable signal.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FC31D26-19EF-D2C3-33B6-1852AF7301D3}"/>
              </a:ext>
            </a:extLst>
          </p:cNvPr>
          <p:cNvGrpSpPr/>
          <p:nvPr/>
        </p:nvGrpSpPr>
        <p:grpSpPr>
          <a:xfrm>
            <a:off x="609599" y="1801271"/>
            <a:ext cx="10972799" cy="287301"/>
            <a:chOff x="609599" y="1801272"/>
            <a:chExt cx="7023653" cy="276006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318F5F70-49D2-0C69-C4AF-7390C83D025E}"/>
                </a:ext>
              </a:extLst>
            </p:cNvPr>
            <p:cNvSpPr/>
            <p:nvPr/>
          </p:nvSpPr>
          <p:spPr>
            <a:xfrm>
              <a:off x="609599" y="1801272"/>
              <a:ext cx="3439721" cy="276006"/>
            </a:xfrm>
            <a:prstGeom prst="homePlat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Hypothesis Testing</a:t>
              </a:r>
            </a:p>
          </p:txBody>
        </p: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1114D1EF-6486-2AED-2468-AE694E38695F}"/>
                </a:ext>
              </a:extLst>
            </p:cNvPr>
            <p:cNvSpPr/>
            <p:nvPr/>
          </p:nvSpPr>
          <p:spPr>
            <a:xfrm>
              <a:off x="4121425" y="1801272"/>
              <a:ext cx="3511827" cy="276006"/>
            </a:xfrm>
            <a:prstGeom prst="homePlat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Predictive Modeling 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9051E8-81F7-0AFB-8FD5-4A55FB472D7B}"/>
              </a:ext>
            </a:extLst>
          </p:cNvPr>
          <p:cNvGrpSpPr/>
          <p:nvPr/>
        </p:nvGrpSpPr>
        <p:grpSpPr>
          <a:xfrm>
            <a:off x="609601" y="2165303"/>
            <a:ext cx="5373750" cy="3526369"/>
            <a:chOff x="609601" y="2283641"/>
            <a:chExt cx="5373750" cy="35263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CA4F5F7-BA5C-E9C6-3A0B-D3AE801A7A33}"/>
                </a:ext>
              </a:extLst>
            </p:cNvPr>
            <p:cNvSpPr/>
            <p:nvPr/>
          </p:nvSpPr>
          <p:spPr>
            <a:xfrm>
              <a:off x="609601" y="2283641"/>
              <a:ext cx="1186926" cy="17827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Hypothesis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23820B-AE73-5246-79C2-DE2067AAAB57}"/>
                </a:ext>
              </a:extLst>
            </p:cNvPr>
            <p:cNvSpPr/>
            <p:nvPr/>
          </p:nvSpPr>
          <p:spPr>
            <a:xfrm>
              <a:off x="609601" y="4141963"/>
              <a:ext cx="1186926" cy="16680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Result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C0966C4-BBFB-2670-A376-56A9E7AFB7A1}"/>
                </a:ext>
              </a:extLst>
            </p:cNvPr>
            <p:cNvSpPr/>
            <p:nvPr/>
          </p:nvSpPr>
          <p:spPr>
            <a:xfrm>
              <a:off x="1861074" y="2283641"/>
              <a:ext cx="4122277" cy="17827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Test whether the average personal income is different between fraud and non-fraud customers (T-test)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H₀ (Null): Both groups have the same mean income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H₁ (Alternative): The groups have different mean incomes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F47879-6542-3D8B-607B-DC004B0284CE}"/>
                </a:ext>
              </a:extLst>
            </p:cNvPr>
            <p:cNvSpPr/>
            <p:nvPr/>
          </p:nvSpPr>
          <p:spPr>
            <a:xfrm>
              <a:off x="1861074" y="4141963"/>
              <a:ext cx="4122277" cy="166804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t = –4.75, p = 2.9×10⁻⁶</a:t>
              </a:r>
            </a:p>
            <a:p>
              <a:r>
                <a:rPr lang="en-US" altLang="ja-JP" sz="1600" b="1" dirty="0">
                  <a:solidFill>
                    <a:schemeClr val="tx1"/>
                  </a:solidFill>
                </a:rPr>
                <a:t>       </a:t>
              </a:r>
              <a:r>
                <a:rPr lang="ja-JP" altLang="en-US" sz="1600" b="1" dirty="0">
                  <a:solidFill>
                    <a:schemeClr val="tx1"/>
                  </a:solidFill>
                </a:rPr>
                <a:t>⇒ </a:t>
              </a:r>
              <a:r>
                <a:rPr lang="en-US" sz="1600" b="1" dirty="0">
                  <a:solidFill>
                    <a:schemeClr val="tx1"/>
                  </a:solidFill>
                </a:rPr>
                <a:t>statistically significant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Reject H₀</a:t>
              </a:r>
            </a:p>
            <a:p>
              <a:r>
                <a:rPr lang="en-US" altLang="ja-JP" sz="1600" b="1" dirty="0">
                  <a:solidFill>
                    <a:schemeClr val="tx1"/>
                  </a:solidFill>
                </a:rPr>
                <a:t>       </a:t>
              </a:r>
              <a:r>
                <a:rPr lang="ja-JP" altLang="en-US" sz="1600" b="1" dirty="0">
                  <a:solidFill>
                    <a:schemeClr val="tx1"/>
                  </a:solidFill>
                </a:rPr>
                <a:t>⇒ </a:t>
              </a:r>
              <a:r>
                <a:rPr lang="en-US" sz="1600" b="1" dirty="0">
                  <a:solidFill>
                    <a:schemeClr val="tx1"/>
                  </a:solidFill>
                </a:rPr>
                <a:t>income differs between groups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1875798-D9A1-6F6A-2833-E16C28A04255}"/>
                </a:ext>
              </a:extLst>
            </p:cNvPr>
            <p:cNvSpPr/>
            <p:nvPr/>
          </p:nvSpPr>
          <p:spPr>
            <a:xfrm>
              <a:off x="2135087" y="5209241"/>
              <a:ext cx="3523436" cy="50426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Fraudulent customers tend to have lower personal income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F81F8159-C5B0-C727-2E00-70EE2C0E31B6}"/>
              </a:ext>
            </a:extLst>
          </p:cNvPr>
          <p:cNvSpPr/>
          <p:nvPr/>
        </p:nvSpPr>
        <p:spPr>
          <a:xfrm>
            <a:off x="6096000" y="2165304"/>
            <a:ext cx="1186926" cy="976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Approach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E73C2-445E-85ED-4709-741F119AA93A}"/>
              </a:ext>
            </a:extLst>
          </p:cNvPr>
          <p:cNvSpPr/>
          <p:nvPr/>
        </p:nvSpPr>
        <p:spPr>
          <a:xfrm>
            <a:off x="7347473" y="2165304"/>
            <a:ext cx="4122277" cy="9764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Since EDA and statistical tests revealed weak individual patterns, modeling was applied to test whether combined variables improve fraud prediction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CC6505-18F2-670D-4431-E3E28BBEA1C3}"/>
              </a:ext>
            </a:extLst>
          </p:cNvPr>
          <p:cNvSpPr/>
          <p:nvPr/>
        </p:nvSpPr>
        <p:spPr>
          <a:xfrm>
            <a:off x="6096000" y="3195057"/>
            <a:ext cx="1186926" cy="12243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Data Preparation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DE236A-9373-3D5F-8648-4FFF1A0C5B61}"/>
              </a:ext>
            </a:extLst>
          </p:cNvPr>
          <p:cNvSpPr/>
          <p:nvPr/>
        </p:nvSpPr>
        <p:spPr>
          <a:xfrm>
            <a:off x="7347473" y="3195057"/>
            <a:ext cx="4122277" cy="122433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Removed: </a:t>
            </a:r>
            <a:r>
              <a:rPr lang="en-US" sz="1600" dirty="0" err="1">
                <a:solidFill>
                  <a:schemeClr val="tx1"/>
                </a:solidFill>
              </a:rPr>
              <a:t>fraud_amount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transaction_id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customer_id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Fraud_amount</a:t>
            </a:r>
            <a:r>
              <a:rPr lang="en-US" sz="1600" dirty="0">
                <a:solidFill>
                  <a:schemeClr val="tx1"/>
                </a:solidFill>
              </a:rPr>
              <a:t> reveals the label and must be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IDs do not contain predictive value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E04F75-FF89-0DE9-4CE0-BD58A1671468}"/>
              </a:ext>
            </a:extLst>
          </p:cNvPr>
          <p:cNvSpPr/>
          <p:nvPr/>
        </p:nvSpPr>
        <p:spPr>
          <a:xfrm>
            <a:off x="6096000" y="4472725"/>
            <a:ext cx="1186926" cy="9630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Model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Creation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4F43C5-85D1-020E-6C6F-00D917A2A981}"/>
              </a:ext>
            </a:extLst>
          </p:cNvPr>
          <p:cNvSpPr/>
          <p:nvPr/>
        </p:nvSpPr>
        <p:spPr>
          <a:xfrm>
            <a:off x="7347473" y="4472725"/>
            <a:ext cx="4122277" cy="96302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Logistic regression was chosen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Metrics used for evaluation: accuracy, precision, recall, and ROC-AUC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2C4E76-B081-B430-9D46-DA902BD868A4}"/>
              </a:ext>
            </a:extLst>
          </p:cNvPr>
          <p:cNvSpPr/>
          <p:nvPr/>
        </p:nvSpPr>
        <p:spPr>
          <a:xfrm>
            <a:off x="6096000" y="5489077"/>
            <a:ext cx="1186926" cy="9630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Model Performance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5B73C4-44CC-DFD8-003A-A612FD93DFB5}"/>
              </a:ext>
            </a:extLst>
          </p:cNvPr>
          <p:cNvSpPr/>
          <p:nvPr/>
        </p:nvSpPr>
        <p:spPr>
          <a:xfrm>
            <a:off x="7347473" y="5489077"/>
            <a:ext cx="4122277" cy="96302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Models achieved moderate accuracy, not strong enough for reliable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Suggests need for additional behavioral &amp; transactional features</a:t>
            </a:r>
          </a:p>
        </p:txBody>
      </p:sp>
    </p:spTree>
    <p:extLst>
      <p:ext uri="{BB962C8B-B14F-4D97-AF65-F5344CB8AC3E}">
        <p14:creationId xmlns:p14="http://schemas.microsoft.com/office/powerpoint/2010/main" val="259808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07616-E4E4-A2BD-8BD0-ABF9CEC6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A09ADE2-B367-521B-5EF3-7391FDF5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65126"/>
            <a:ext cx="10972799" cy="67848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5. Discussion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93812-C0E8-9318-4AFC-E96B47E8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>
                <a:cs typeface="Arial" panose="020B0604020202020204" pitchFamily="34" charset="0"/>
              </a:rPr>
              <a:pPr>
                <a:spcAft>
                  <a:spcPts val="600"/>
                </a:spcAft>
              </a:pPr>
              <a:t>9</a:t>
            </a:fld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F9C17B-32D6-5961-352A-BC790B905CFB}"/>
              </a:ext>
            </a:extLst>
          </p:cNvPr>
          <p:cNvSpPr txBox="1">
            <a:spLocks/>
          </p:cNvSpPr>
          <p:nvPr/>
        </p:nvSpPr>
        <p:spPr>
          <a:xfrm>
            <a:off x="609600" y="1112216"/>
            <a:ext cx="10972800" cy="678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  <a:cs typeface="Arial" panose="020B0604020202020204" pitchFamily="34" charset="0"/>
              </a:rPr>
              <a:t>Overall, fraud shows no clear patterns, income is the only meaningful difference, and behavioral data is needed for better detection.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721B15-F2C8-95CF-80D1-32D55BBDCCA4}"/>
              </a:ext>
            </a:extLst>
          </p:cNvPr>
          <p:cNvGrpSpPr/>
          <p:nvPr/>
        </p:nvGrpSpPr>
        <p:grpSpPr>
          <a:xfrm>
            <a:off x="609600" y="3905026"/>
            <a:ext cx="10972797" cy="2595688"/>
            <a:chOff x="609601" y="3490160"/>
            <a:chExt cx="10144465" cy="29782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EC57D0D-40EF-7FE9-EDDC-1264F492AFFF}"/>
                </a:ext>
              </a:extLst>
            </p:cNvPr>
            <p:cNvSpPr txBox="1"/>
            <p:nvPr/>
          </p:nvSpPr>
          <p:spPr>
            <a:xfrm>
              <a:off x="1021977" y="3490160"/>
              <a:ext cx="9732089" cy="731521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buNone/>
              </a:pPr>
              <a:r>
                <a:rPr lang="en-US" sz="1600" b="1" dirty="0">
                  <a:effectLst/>
                  <a:ea typeface="Times New Roman" panose="02020603050405020304" pitchFamily="18" charset="0"/>
                </a:rPr>
                <a:t>Support Lower-income customers:</a:t>
              </a:r>
              <a:endParaRPr lang="en-US" sz="1600" dirty="0">
                <a:effectLst/>
                <a:ea typeface="Times New Roman" panose="02020603050405020304" pitchFamily="18" charset="0"/>
              </a:endParaRPr>
            </a:p>
            <a:p>
              <a:pPr marL="0" marR="0">
                <a:buNone/>
              </a:pPr>
              <a:r>
                <a:rPr lang="en-US" sz="1400" dirty="0">
                  <a:effectLst/>
                  <a:ea typeface="Times New Roman" panose="02020603050405020304" pitchFamily="18" charset="0"/>
                </a:rPr>
                <a:t>Fraud victims tend to have lower personal income. Provide extra prompts to verification checks for this group.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19F7AD-6709-388F-AEB7-5C4F7DD229E8}"/>
                </a:ext>
              </a:extLst>
            </p:cNvPr>
            <p:cNvSpPr txBox="1"/>
            <p:nvPr/>
          </p:nvSpPr>
          <p:spPr>
            <a:xfrm>
              <a:off x="1021977" y="4239083"/>
              <a:ext cx="9732089" cy="731521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buNone/>
              </a:pPr>
              <a:r>
                <a:rPr lang="en-US" sz="1600" b="1" dirty="0">
                  <a:effectLst/>
                  <a:ea typeface="Times New Roman" panose="02020603050405020304" pitchFamily="18" charset="0"/>
                </a:rPr>
                <a:t>Focus on behavior, not demographics:</a:t>
              </a:r>
              <a:endParaRPr lang="en-US" sz="1600" dirty="0">
                <a:effectLst/>
                <a:ea typeface="Times New Roman" panose="02020603050405020304" pitchFamily="18" charset="0"/>
              </a:endParaRPr>
            </a:p>
            <a:p>
              <a:pPr marL="0" marR="0">
                <a:buNone/>
              </a:pPr>
              <a:r>
                <a:rPr lang="en-US" sz="1400" dirty="0">
                  <a:ea typeface="Times New Roman" panose="02020603050405020304" pitchFamily="18" charset="0"/>
                </a:rPr>
                <a:t>S</a:t>
              </a:r>
              <a:r>
                <a:rPr lang="en-US" sz="1400" dirty="0">
                  <a:effectLst/>
                  <a:ea typeface="Times New Roman" panose="02020603050405020304" pitchFamily="18" charset="0"/>
                </a:rPr>
                <a:t>ince typical customer attributes do not predict fraud well, use behavioral indicators such as abnormal login activity, device changes, unusual transaction patterns.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6E49E1-BD41-7D48-744D-E0D7C8E16DA3}"/>
                </a:ext>
              </a:extLst>
            </p:cNvPr>
            <p:cNvSpPr txBox="1"/>
            <p:nvPr/>
          </p:nvSpPr>
          <p:spPr>
            <a:xfrm>
              <a:off x="1021977" y="4988006"/>
              <a:ext cx="9732089" cy="731521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buNone/>
              </a:pPr>
              <a:r>
                <a:rPr lang="en-US" sz="1600" b="1" dirty="0">
                  <a:effectLst/>
                  <a:ea typeface="Times New Roman" panose="02020603050405020304" pitchFamily="18" charset="0"/>
                </a:rPr>
                <a:t>Improve data collection:</a:t>
              </a:r>
              <a:endParaRPr lang="en-US" sz="1600" dirty="0">
                <a:effectLst/>
                <a:ea typeface="Times New Roman" panose="02020603050405020304" pitchFamily="18" charset="0"/>
              </a:endParaRPr>
            </a:p>
            <a:p>
              <a:pPr marL="0" marR="0">
                <a:buNone/>
              </a:pPr>
              <a:r>
                <a:rPr lang="en-US" sz="1400" dirty="0">
                  <a:effectLst/>
                  <a:ea typeface="Times New Roman" panose="02020603050405020304" pitchFamily="18" charset="0"/>
                </a:rPr>
                <a:t>Current variables offer weak predictive signals. Add richer features such as device information, IP address, log in location, failed login attempts. </a:t>
              </a:r>
              <a:r>
                <a:rPr lang="en-US" sz="1400" dirty="0">
                  <a:ea typeface="Times New Roman" panose="02020603050405020304" pitchFamily="18" charset="0"/>
                </a:rPr>
                <a:t>R</a:t>
              </a:r>
              <a:r>
                <a:rPr lang="en-US" sz="1400" dirty="0">
                  <a:effectLst/>
                  <a:ea typeface="Times New Roman" panose="02020603050405020304" pitchFamily="18" charset="0"/>
                </a:rPr>
                <a:t>ules should be updated frequently.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66BF11-EEC3-C2BD-B10D-D88377269625}"/>
                </a:ext>
              </a:extLst>
            </p:cNvPr>
            <p:cNvSpPr txBox="1"/>
            <p:nvPr/>
          </p:nvSpPr>
          <p:spPr>
            <a:xfrm>
              <a:off x="1021977" y="5736929"/>
              <a:ext cx="9732089" cy="731520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buNone/>
              </a:pPr>
              <a:r>
                <a:rPr lang="en-US" sz="1600" b="1">
                  <a:effectLst/>
                  <a:ea typeface="Times New Roman" panose="02020603050405020304" pitchFamily="18" charset="0"/>
                </a:rPr>
                <a:t>Retrain </a:t>
              </a:r>
              <a:r>
                <a:rPr lang="en-US" sz="1600" b="1" dirty="0">
                  <a:effectLst/>
                  <a:ea typeface="Times New Roman" panose="02020603050405020304" pitchFamily="18" charset="0"/>
                </a:rPr>
                <a:t>models regularly</a:t>
              </a:r>
              <a:r>
                <a:rPr lang="en-US" sz="1600" dirty="0">
                  <a:effectLst/>
                  <a:ea typeface="Times New Roman" panose="02020603050405020304" pitchFamily="18" charset="0"/>
                </a:rPr>
                <a:t>: </a:t>
              </a:r>
            </a:p>
            <a:p>
              <a:pPr marL="0" marR="0">
                <a:buNone/>
              </a:pPr>
              <a:r>
                <a:rPr lang="en-US" sz="1400" dirty="0">
                  <a:effectLst/>
                  <a:ea typeface="Times New Roman" panose="02020603050405020304" pitchFamily="18" charset="0"/>
                </a:rPr>
                <a:t>Fraud patterns evolve so models and rules should be updated frequently.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6FDA7E-355F-0962-8399-60685DD59440}"/>
                </a:ext>
              </a:extLst>
            </p:cNvPr>
            <p:cNvSpPr/>
            <p:nvPr/>
          </p:nvSpPr>
          <p:spPr>
            <a:xfrm>
              <a:off x="609601" y="3532952"/>
              <a:ext cx="412376" cy="6459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62F451-0B31-3AFD-ACE0-A94D108AAC8D}"/>
                </a:ext>
              </a:extLst>
            </p:cNvPr>
            <p:cNvSpPr/>
            <p:nvPr/>
          </p:nvSpPr>
          <p:spPr>
            <a:xfrm>
              <a:off x="609601" y="4281875"/>
              <a:ext cx="412376" cy="6459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747438-1CE6-082E-0884-F16A93DABAD3}"/>
                </a:ext>
              </a:extLst>
            </p:cNvPr>
            <p:cNvSpPr/>
            <p:nvPr/>
          </p:nvSpPr>
          <p:spPr>
            <a:xfrm>
              <a:off x="609601" y="5030797"/>
              <a:ext cx="412376" cy="6459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02F999-BFC8-E349-C9D0-0FA5B5746EF2}"/>
                </a:ext>
              </a:extLst>
            </p:cNvPr>
            <p:cNvSpPr/>
            <p:nvPr/>
          </p:nvSpPr>
          <p:spPr>
            <a:xfrm>
              <a:off x="609601" y="5779718"/>
              <a:ext cx="412376" cy="6459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4</a:t>
              </a:r>
            </a:p>
          </p:txBody>
        </p:sp>
      </p:grp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235CFEA-AC2C-96A9-D9FD-F7A0FE06995C}"/>
              </a:ext>
            </a:extLst>
          </p:cNvPr>
          <p:cNvSpPr/>
          <p:nvPr/>
        </p:nvSpPr>
        <p:spPr>
          <a:xfrm rot="10800000">
            <a:off x="4815506" y="3778597"/>
            <a:ext cx="2560983" cy="126429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36D349-AF21-0B84-05F5-A7280540D318}"/>
              </a:ext>
            </a:extLst>
          </p:cNvPr>
          <p:cNvSpPr/>
          <p:nvPr/>
        </p:nvSpPr>
        <p:spPr>
          <a:xfrm>
            <a:off x="609599" y="1801273"/>
            <a:ext cx="5373748" cy="22085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Key Analytical Findings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A97D52-3A17-15A0-0CA6-03D2CF88D4BD}"/>
              </a:ext>
            </a:extLst>
          </p:cNvPr>
          <p:cNvSpPr/>
          <p:nvPr/>
        </p:nvSpPr>
        <p:spPr>
          <a:xfrm>
            <a:off x="6095995" y="1801273"/>
            <a:ext cx="5486397" cy="22085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Modeling Implications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EE3126-9C76-A266-7AFF-B2500822EED9}"/>
              </a:ext>
            </a:extLst>
          </p:cNvPr>
          <p:cNvSpPr txBox="1"/>
          <p:nvPr/>
        </p:nvSpPr>
        <p:spPr>
          <a:xfrm>
            <a:off x="609594" y="2027713"/>
            <a:ext cx="537374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Fraud and non-fraud customers looked similar across most variables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Statistical tests showed no significant differences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Income was the only feature with meaningful difference (lower in fraud cases)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Suggests vulnerability among lower-income customers (not causation)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7DA7C0-0C87-A53E-F0E0-71085E212CEE}"/>
              </a:ext>
            </a:extLst>
          </p:cNvPr>
          <p:cNvSpPr txBox="1"/>
          <p:nvPr/>
        </p:nvSpPr>
        <p:spPr>
          <a:xfrm>
            <a:off x="6095995" y="2027713"/>
            <a:ext cx="537374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Logistic Regression reached ~61% accuracy with weak feature influence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Dataset lacks strong predictors of fraud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Demographics and amounts alone are insufficient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Times New Roman" panose="02020603050405020304" pitchFamily="18" charset="0"/>
              </a:rPr>
              <a:t>Fraud likely influenced by unobserved behavioral factors</a:t>
            </a:r>
          </a:p>
        </p:txBody>
      </p:sp>
    </p:spTree>
    <p:extLst>
      <p:ext uri="{BB962C8B-B14F-4D97-AF65-F5344CB8AC3E}">
        <p14:creationId xmlns:p14="http://schemas.microsoft.com/office/powerpoint/2010/main" val="3948338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1219</Words>
  <Application>Microsoft Macintosh PowerPoint</Application>
  <PresentationFormat>Widescreen</PresentationFormat>
  <Paragraphs>352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  Fraud analysis</vt:lpstr>
      <vt:lpstr>Agenda</vt:lpstr>
      <vt:lpstr>1. Data Understanding</vt:lpstr>
      <vt:lpstr>2. Data Cleaning and Preparation</vt:lpstr>
      <vt:lpstr>3. Exploratory Data Analysis (EDA) 1/2</vt:lpstr>
      <vt:lpstr>3. Exploratory Data Analysis (EDA) 2/2</vt:lpstr>
      <vt:lpstr>4. Fraud Analysis 1/2</vt:lpstr>
      <vt:lpstr>4. Fraud Analysis 2/2</vt:lpstr>
      <vt:lpstr>5. Discussion and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Soraya Shirini</cp:lastModifiedBy>
  <cp:revision>27</cp:revision>
  <dcterms:created xsi:type="dcterms:W3CDTF">2025-11-24T02:06:40Z</dcterms:created>
  <dcterms:modified xsi:type="dcterms:W3CDTF">2026-04-03T08:53:16Z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